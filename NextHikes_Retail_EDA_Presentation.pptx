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2103120"/>
            <a:ext cx="5943600" cy="5943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-1005840"/>
            <a:ext cx="3840480" cy="384048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5" name="Shape 3"/>
          <p:cNvSpPr/>
          <p:nvPr/>
        </p:nvSpPr>
        <p:spPr>
          <a:xfrm>
            <a:off x="-2194560" y="4206240"/>
            <a:ext cx="4754880" cy="47548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41248" y="1115568"/>
            <a:ext cx="10058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4884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of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Large-Scale Retail Transaction Data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Univariate, Bivariate and Multivariate Statistical Techniques on 100,000 Transaction Records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5349240"/>
            <a:ext cx="10515600" cy="0"/>
          </a:xfrm>
          <a:prstGeom prst="line">
            <a:avLst/>
          </a:prstGeom>
          <a:noFill/>
          <a:ln w="12700">
            <a:solidFill>
              <a:srgbClr val="3B45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486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57424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Diksha Saxena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852160" y="5486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52160" y="57424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NextHike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Date: 25th September,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EEF3FC"/>
          </a:solidFill>
          <a:ln w="12700">
            <a:solidFill>
              <a:srgbClr val="D9E1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185623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9304" y="1810512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Objectives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9304" y="2075688"/>
            <a:ext cx="4224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structure and business goals of the analysis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5040" y="160020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EEF3FC"/>
          </a:solidFill>
          <a:ln w="12700">
            <a:solidFill>
              <a:srgbClr val="D9E1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91072" y="185623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291072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21424" y="1810512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21424" y="2075688"/>
            <a:ext cx="4224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central tendency and spread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01752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EEF3FC"/>
          </a:solidFill>
          <a:ln w="12700">
            <a:solidFill>
              <a:srgbClr val="D9E1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8952" y="32735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58952" y="3273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9304" y="3227832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9304" y="3493008"/>
            <a:ext cx="4224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and Z-score methods on key variables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35040" y="301752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EEF3FC"/>
          </a:solidFill>
          <a:ln w="12700">
            <a:solidFill>
              <a:srgbClr val="D9E1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91072" y="32735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291072" y="3273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21424" y="3227832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Analysis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21424" y="3493008"/>
            <a:ext cx="4224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 and category-level comparisons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443484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EEF3FC"/>
          </a:solidFill>
          <a:ln w="12700">
            <a:solidFill>
              <a:srgbClr val="D9E1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8952" y="46908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758952" y="4690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89304" y="4645152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Analysis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89304" y="4910328"/>
            <a:ext cx="4224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views across three or more variables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035040" y="443484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EEF3FC"/>
          </a:solidFill>
          <a:ln w="12700">
            <a:solidFill>
              <a:srgbClr val="D9E1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91072" y="46908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6291072" y="4690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21424" y="4645152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Conclusion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21424" y="4910328"/>
            <a:ext cx="4224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takeaways for business decisions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OVERVIEW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 &amp; Objectives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51460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737360"/>
            <a:ext cx="229514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263140"/>
            <a:ext cx="23317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Records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72968" y="1554480"/>
            <a:ext cx="251460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82696" y="1737360"/>
            <a:ext cx="229514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64408" y="2263140"/>
            <a:ext cx="23317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Variables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88736" y="1554480"/>
            <a:ext cx="251460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98464" y="1737360"/>
            <a:ext cx="229514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980176" y="2263140"/>
            <a:ext cx="23317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04504" y="1554480"/>
            <a:ext cx="251460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714232" y="1737360"/>
            <a:ext cx="229514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695944" y="2263140"/>
            <a:ext cx="23317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28803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spans customer demographics, order details, product &amp; pricing fields, payment/shipping mode and return status, mixing categorical, numerical and date types.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3886200"/>
            <a:ext cx="5303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univariate, bivariate and multivariate analysis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interpret outliers in pricing and delivery data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correlation between key numerical variables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skewness and kurtosis of revenue distributions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statistically meaningful business insights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2648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Tools Used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126480" y="388620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— data manipulation and aggregation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— numerical and array computation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&amp; Seaborn — statistical visualization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— hypothesis testing (t-test, ANOVA, chi-square)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|  Retail Transaction EDA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Univariate Analysis — Numerical Variables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7315200" cy="2651760"/>
        </p:xfrm>
        <a:graphic>
          <a:graphicData uri="http://schemas.openxmlformats.org/drawingml/2006/table">
            <a:tbl>
              <a:tblPr/>
              <a:tblGrid>
                <a:gridCol w="1737360"/>
                <a:gridCol w="1115568"/>
                <a:gridCol w="1115568"/>
                <a:gridCol w="1115568"/>
                <a:gridCol w="1115568"/>
                <a:gridCol w="1115568"/>
              </a:tblGrid>
              <a:tr h="37882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Skewness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Kurtosis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41.56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Price (₹)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30,164.5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30,148.0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17,139.7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-1.36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Price (₹)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64,165.7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49,752.4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49,969.3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00100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Numbers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001000" y="1874520"/>
            <a:ext cx="3611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product_price is near-symmetric (skew ≈ 0)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final_price is right-skewed (0.935) — a long tail of high-value orders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numerical fields show negative kurtosis except final_price, indicating flatter-than-normal spread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434340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pic>
        <p:nvPicPr>
          <p:cNvPr id="9" name="Image 0" descr="/home/claude/nb_images/cell0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460" y="4453128"/>
            <a:ext cx="2411919" cy="15910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6928" y="6099048"/>
            <a:ext cx="3300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product_price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160520" y="434340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pic>
        <p:nvPicPr>
          <p:cNvPr id="12" name="Image 1" descr="/home/claude/nb_images/cell02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4110" y="4453128"/>
            <a:ext cx="2513260" cy="15910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270248" y="6099048"/>
            <a:ext cx="3300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final_price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7863840" y="4343400"/>
            <a:ext cx="37033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pic>
        <p:nvPicPr>
          <p:cNvPr id="15" name="Image 2" descr="/home/claude/nb_images/cell03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873" y="4453128"/>
            <a:ext cx="2437255" cy="15910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973568" y="6099048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delivery_days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|  Retail Transaction EDA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Univariate Analysis — Categorical Variables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65760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pic>
        <p:nvPicPr>
          <p:cNvPr id="6" name="Image 0" descr="/home/claude/nb_images/cell0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227" y="1618488"/>
            <a:ext cx="2729546" cy="20939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3767328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by product category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251960" y="1508760"/>
            <a:ext cx="365760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pic>
        <p:nvPicPr>
          <p:cNvPr id="9" name="Image 1" descr="/home/claude/nb_images/cell03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934" y="1618488"/>
            <a:ext cx="3207651" cy="20939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61688" y="3767328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by customer segment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8046720" y="1508760"/>
            <a:ext cx="35661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pic>
        <p:nvPicPr>
          <p:cNvPr id="12" name="Image 2" descr="/home/claude/nb_images/cell04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5974" y="1618488"/>
            <a:ext cx="3207651" cy="209397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56448" y="3767328"/>
            <a:ext cx="3346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by payment method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457200" y="43434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Frequency Findings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457200" y="475488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566928" y="4952390"/>
            <a:ext cx="247802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16.5–16.9%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548640" y="5520233"/>
            <a:ext cx="251460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 are near-evenly split (Health highest)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3337560" y="475488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3447288" y="4952390"/>
            <a:ext cx="247802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33.5 / 33.4 / 33.2%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3429000" y="5520233"/>
            <a:ext cx="251460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/ Regular / Premium — nearly equal customer mix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217920" y="475488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6327648" y="4952390"/>
            <a:ext cx="247802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25.3%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6309360" y="5520233"/>
            <a:ext cx="251460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leads payment methods, closely followed by UPI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9098280" y="475488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9208008" y="4952390"/>
            <a:ext cx="247802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14.81%</a:t>
            </a:r>
            <a:endParaRPr lang="en-US" sz="2400" dirty="0"/>
          </a:p>
        </p:txBody>
      </p:sp>
      <p:sp>
        <p:nvSpPr>
          <p:cNvPr id="26" name="Text 21"/>
          <p:cNvSpPr/>
          <p:nvPr/>
        </p:nvSpPr>
        <p:spPr>
          <a:xfrm>
            <a:off x="9189720" y="5520233"/>
            <a:ext cx="251460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return rate across all 100,000 transactions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|  Retail Transaction EDA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 Detection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3317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pic>
        <p:nvPicPr>
          <p:cNvPr id="6" name="Image 0" descr="/home/claude/nb_images/cell04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476" y="1618488"/>
            <a:ext cx="1799169" cy="1591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3264408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product_price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880360" y="1508760"/>
            <a:ext cx="23317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pic>
        <p:nvPicPr>
          <p:cNvPr id="9" name="Image 1" descr="/home/claude/nb_images/cell04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559" y="1618488"/>
            <a:ext cx="1725322" cy="15910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990088" y="3264408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final_price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303520" y="1508760"/>
            <a:ext cx="23317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pic>
        <p:nvPicPr>
          <p:cNvPr id="12" name="Image 2" descr="/home/claude/nb_images/cell04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6719" y="1618488"/>
            <a:ext cx="1725322" cy="15910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13248" y="3264408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delivery_days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7818120" y="1508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Method — final_price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7818120" y="182880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 range: ₹ -79,306.6 to ₹ 198,057.7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1,335 outliers found (1.33% of orders)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method (|z|&gt;3): 503 outliers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57200" y="3840480"/>
            <a:ext cx="11247120" cy="0"/>
          </a:xfrm>
          <a:prstGeom prst="line">
            <a:avLst/>
          </a:prstGeom>
          <a:noFill/>
          <a:ln w="12700">
            <a:solidFill>
              <a:srgbClr val="D9E1F5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0233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Outliers Represent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457200" y="438912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final_price outlier corresponds to quantity = 4, the maximum basket size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spread fairly evenly across all 6 categories (Grocery slightly highest at 247)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orders average ₹56,249 in product price vs ₹30,165 overall — nearly double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09360" y="434340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6419088" y="4621378"/>
            <a:ext cx="2295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1.33%</a:t>
            </a:r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6400800" y="5420563"/>
            <a:ext cx="233172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flagged as outliers (IQR)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006840" y="434340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9116568" y="4621378"/>
            <a:ext cx="2295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1.9x</a:t>
            </a:r>
            <a:endParaRPr lang="en-US" sz="2400" dirty="0"/>
          </a:p>
        </p:txBody>
      </p:sp>
      <p:sp>
        <p:nvSpPr>
          <p:cNvPr id="24" name="Text 19"/>
          <p:cNvSpPr/>
          <p:nvPr/>
        </p:nvSpPr>
        <p:spPr>
          <a:xfrm>
            <a:off x="9098280" y="5420563"/>
            <a:ext cx="233172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avg. product price for outlier orders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were retained rather than removed — they represent genuine high-value, bulk-quantity transactions rather than data errors.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|  Retail Transaction EDA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Bivariate Analysis — Numerical Relationships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pic>
        <p:nvPicPr>
          <p:cNvPr id="6" name="Image 0" descr="/home/claude/nb_images/cell06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365" y="1618488"/>
            <a:ext cx="3257270" cy="22311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3904488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product_price vs final_price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251960" y="150876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pic>
        <p:nvPicPr>
          <p:cNvPr id="9" name="Image 1" descr="/home/claude/nb_images/cell06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902" y="1618488"/>
            <a:ext cx="3153715" cy="22311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61688" y="3904488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vs final_price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809244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with final_price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92440" y="1874520"/>
          <a:ext cx="3611880" cy="1737360"/>
        </p:xfrm>
        <a:graphic>
          <a:graphicData uri="http://schemas.openxmlformats.org/drawingml/2006/table">
            <a:tbl>
              <a:tblPr/>
              <a:tblGrid>
                <a:gridCol w="1691640"/>
                <a:gridCol w="960120"/>
                <a:gridCol w="9601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discount_percentage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457200" y="4480560"/>
            <a:ext cx="11247120" cy="0"/>
          </a:xfrm>
          <a:prstGeom prst="line">
            <a:avLst/>
          </a:prstGeom>
          <a:noFill/>
          <a:ln w="12700">
            <a:solidFill>
              <a:srgbClr val="D9E1F5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5720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57200" y="5029200"/>
            <a:ext cx="10789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product_price and quantity are the two strongest revenue drivers of final_price — as expected, since final_price is derived from them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discount_percentage has a mild negative relationship with final_price — deeper discounts modestly reduce revenue per order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shows virtually no relationship with spending (r ≈ 0), and delivery_days shows no relationship with returns (r ≈ 0.0005)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|  Retail Transaction EDA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Matrix &amp; Multicollinearity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51206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pic>
        <p:nvPicPr>
          <p:cNvPr id="6" name="Image 0" descr="/home/claude/nb_images/cell07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143" y="1618488"/>
            <a:ext cx="4684755" cy="3648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5321808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 — numerical variables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852160" y="150876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 Observations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852160" y="1874520"/>
            <a:ext cx="5760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final_price correlates strongly with product_price and quantity, and negatively with discount_percentage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delivery_days shows low correlation with spending and returns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pair of independent features shows problematic multicollinearity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852160" y="34290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Inflation Factor (VIF)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3749040"/>
          <a:ext cx="3840480" cy="1737360"/>
        </p:xfrm>
        <a:graphic>
          <a:graphicData uri="http://schemas.openxmlformats.org/drawingml/2006/table">
            <a:tbl>
              <a:tblPr/>
              <a:tblGrid>
                <a:gridCol w="2468880"/>
                <a:gridCol w="1371600"/>
              </a:tblGrid>
              <a:tr h="289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discount_percentage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delivery_days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5852160" y="56235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VIF values ≈ 1.0 — features are effectively independent, safe for predictive modeling.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|  Retail Transaction EDA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Numerical vs Categorical &amp; Significance Tests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pic>
        <p:nvPicPr>
          <p:cNvPr id="6" name="Image 0" descr="/home/claude/nb_images/cell06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423" y="1618488"/>
            <a:ext cx="2787435" cy="18196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3493008"/>
            <a:ext cx="3392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final_price by segment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206240" y="150876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pic>
        <p:nvPicPr>
          <p:cNvPr id="9" name="Image 1" descr="/home/claude/nb_images/cell07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458" y="1618488"/>
            <a:ext cx="2337444" cy="18196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15968" y="3493008"/>
            <a:ext cx="3392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 (%) by category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955280" y="1508760"/>
            <a:ext cx="37033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pic>
        <p:nvPicPr>
          <p:cNvPr id="12" name="Image 2" descr="/home/claude/nb_images/cell07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7534" y="1618488"/>
            <a:ext cx="2578812" cy="18196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65008" y="3493008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delivery days by shipping type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457200" y="402336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 Results</a:t>
            </a:r>
            <a:endParaRPr lang="en-US" sz="14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389120"/>
          <a:ext cx="11247120" cy="1463040"/>
        </p:xfrm>
        <a:graphic>
          <a:graphicData uri="http://schemas.openxmlformats.org/drawingml/2006/table">
            <a:tbl>
              <a:tblPr/>
              <a:tblGrid>
                <a:gridCol w="2011680"/>
                <a:gridCol w="4389120"/>
                <a:gridCol w="1463040"/>
                <a:gridCol w="33832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Conclusion (α = 0.05)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segment vs final_price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significant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 vs Standard delivery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significant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Chi-square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category vs return 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significant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Segment, shipping type and category show real but statistically small differences — none reach significance at the 95% confidence level on this sample.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|  Retail Transaction EDA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Multivariate Analysis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6118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pic>
        <p:nvPicPr>
          <p:cNvPr id="6" name="Image 0" descr="/home/claude/nb_images/cell08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488" y="1618488"/>
            <a:ext cx="2481303" cy="20025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3675888"/>
            <a:ext cx="3392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(₹M): category × discount band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206240" y="1508760"/>
            <a:ext cx="36118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pic>
        <p:nvPicPr>
          <p:cNvPr id="9" name="Image 1" descr="/home/claude/nb_images/cell08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1732" y="1618488"/>
            <a:ext cx="2920896" cy="20025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15968" y="3675888"/>
            <a:ext cx="3392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final_price: segment × age group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955280" y="1508760"/>
            <a:ext cx="370332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pic>
        <p:nvPicPr>
          <p:cNvPr id="12" name="Image 2" descr="/home/claude/nb_images/cell08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08" y="1618488"/>
            <a:ext cx="3483864" cy="170394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65008" y="3675888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 (%): shipping × delivery days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457200" y="42062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Pattern Findings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457200" y="4572000"/>
            <a:ext cx="5394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Kitchen with low discounts (0–10%) generates the highest revenue combination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customers aged 30–45 show the highest average spending combination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6035040" y="4572000"/>
            <a:ext cx="5577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 does not vary meaningfully by shipping type or delivery-day bucket — no clear operational risk pattern emerges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|  Retail Transaction EDA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Shape &amp; Revenue Concentration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16052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pic>
        <p:nvPicPr>
          <p:cNvPr id="6" name="Image 0" descr="/home/claude/nb_images/cell094_h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691" y="1618488"/>
            <a:ext cx="3833537" cy="2551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4224528"/>
            <a:ext cx="3941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log(final_price) distribution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00600" y="1508760"/>
            <a:ext cx="65836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pic>
        <p:nvPicPr>
          <p:cNvPr id="9" name="Image 1" descr="/home/claude/nb_images/cell097_h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2714" y="1618488"/>
            <a:ext cx="3979453" cy="25511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10328" y="4224528"/>
            <a:ext cx="6364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 (₹M)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57200" y="480060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66928" y="4998110"/>
            <a:ext cx="247802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0.935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48640" y="5565953"/>
            <a:ext cx="251460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final_price skewness — right-skewed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337560" y="480060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3447288" y="4998110"/>
            <a:ext cx="247802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0.169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3429000" y="5565953"/>
            <a:ext cx="251460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final_price kurtosis — near-normal tails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217920" y="480060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6327648" y="4998110"/>
            <a:ext cx="247802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-0.986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6309360" y="5565953"/>
            <a:ext cx="251460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 after log transform (over-corrected)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9098280" y="480060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9208008" y="4998110"/>
            <a:ext cx="247802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26.4%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9189720" y="5565953"/>
            <a:ext cx="251460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revenue from top 10% of orders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right-skewed and concentrated: a small share of large transactions drives a disproportionate share of total revenue, consistent with the outlier findings.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|  Retail Transaction EDA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Statistical Findings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728216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7335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Distribution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 with heavy influence from a limited number of high-value transactions.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50876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19088" y="1728216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67335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&amp; Quantity Drive Revenue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675120" y="201168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product_price (r=0.73) and quantity (r=0.58) are the strongest correlates of final_price.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90088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8368" y="3209544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1546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Trim Revenue Slightly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14400" y="3493008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percentage shows a mild negative relationship with order value.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2990088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19088" y="3209544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31546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Are Genuine, Not Errors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675120" y="3493008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1.33% of orders are statistical outliers — large baskets and premium purchases.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471416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" y="4690872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63600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&amp; Shipping Effects Are Small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14400" y="4974336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ANOVA, t-test and chi-square results show no statistically significant differences.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4471416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19088" y="4690872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463600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Concentrated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675120" y="4974336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10% of orders contribute 26.4% of total revenue.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|  Retail Transaction EDA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572000"/>
            <a:ext cx="5029200" cy="5029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Exploration to Action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7863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univariate, bivariate and multivariate techniques across 100,000 retail transactions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correlation, skewness, kurtosis and outlier behavior in pricing and revenue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no multicollinearity among key numerical features (VIF ≈ 1.0)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that price and quantity — not demographics or shipping mode — drive final revenue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a validated, statistically-grounded foundation for future predictive modeling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5989320"/>
            <a:ext cx="10515600" cy="0"/>
          </a:xfrm>
          <a:prstGeom prst="line">
            <a:avLst/>
          </a:prstGeom>
          <a:noFill/>
          <a:ln w="12700">
            <a:solidFill>
              <a:srgbClr val="3B45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172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Diksha Saxena  •  Submitted to NextHike  •  25th September,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2026-09-25T03:49:08Z</dcterms:created>
  <dcterms:modified xsi:type="dcterms:W3CDTF">2026-09-25T03:49:08Z</dcterms:modified>
</cp:coreProperties>
</file>